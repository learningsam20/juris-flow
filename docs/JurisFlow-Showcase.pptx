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9CF0"/>
                </a:solidFill>
                <a:latin typeface="Consolas"/>
              </a:rPr>
              <a:t>ENTERPRISE AI · FINAL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EEF3FA"/>
                </a:solidFill>
                <a:latin typeface="Calibri"/>
              </a:rPr>
              <a:t>JurisFlow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494A8"/>
                </a:solidFill>
                <a:latin typeface="Calibri"/>
              </a:rPr>
              <a:t>Grounded legal KM · multi-agent tribunal · training artefacts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494A8"/>
                </a:solidFill>
                <a:latin typeface="Consolas"/>
              </a:rPr>
              <a:t>Educational product — not legal advice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D9CF0"/>
                </a:solidFill>
                <a:latin typeface="Consolas"/>
              </a:rPr>
              <a:t>JURISFLOW · ENTERPRISE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9CF0"/>
                </a:solidFill>
                <a:latin typeface="Consolas"/>
              </a:rPr>
              <a:t>01 ·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EF3FA"/>
                </a:solidFill>
                <a:latin typeface="Calibri"/>
              </a:rPr>
              <a:t>Scale judgment. Don't burn SMEs on repetition.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538063" cy="2139696"/>
          </a:xfrm>
          <a:prstGeom prst="rect">
            <a:avLst/>
          </a:prstGeom>
          <a:solidFill>
            <a:srgbClr val="0E1524"/>
          </a:solidFill>
          <a:ln>
            <a:solidFill>
              <a:srgbClr val="1A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538063" cy="50800"/>
          </a:xfrm>
          <a:prstGeom prst="rect">
            <a:avLst/>
          </a:prstGeom>
          <a:solidFill>
            <a:srgbClr val="3D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63624"/>
            <a:ext cx="517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494A8"/>
                </a:solidFill>
                <a:latin typeface="Consolas"/>
              </a:rPr>
              <a:t>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74520"/>
            <a:ext cx="5218023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EEF3FA"/>
                </a:solidFill>
                <a:latin typeface="Calibri"/>
              </a:rPr>
              <a:t>•  Scale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EEF3FA"/>
                </a:solidFill>
                <a:latin typeface="Calibri"/>
              </a:rPr>
              <a:t>•  Efficiency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EEF3FA"/>
                </a:solidFill>
                <a:latin typeface="Calibri"/>
              </a:rPr>
              <a:t>•  Policy currency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6431" y="1417320"/>
            <a:ext cx="5538063" cy="2139696"/>
          </a:xfrm>
          <a:prstGeom prst="rect">
            <a:avLst/>
          </a:prstGeom>
          <a:solidFill>
            <a:srgbClr val="0E1524"/>
          </a:solidFill>
          <a:ln>
            <a:solidFill>
              <a:srgbClr val="1A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6431" y="1417320"/>
            <a:ext cx="5538063" cy="50800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7599" y="1563624"/>
            <a:ext cx="517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494A8"/>
                </a:solidFill>
                <a:latin typeface="Consolas"/>
              </a:rPr>
              <a:t>CHALLENGES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1023" y="1874520"/>
            <a:ext cx="5218023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EEF3FA"/>
                </a:solidFill>
                <a:latin typeface="Calibri"/>
              </a:rPr>
              <a:t>•  SME bandwidth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EEF3FA"/>
                </a:solidFill>
                <a:latin typeface="Calibri"/>
              </a:rPr>
              <a:t>•  Fast onboarding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EEF3FA"/>
                </a:solidFill>
                <a:latin typeface="Calibri"/>
              </a:rPr>
              <a:t>•  Agentified HITL CLM 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58184"/>
            <a:ext cx="5538063" cy="2139696"/>
          </a:xfrm>
          <a:prstGeom prst="rect">
            <a:avLst/>
          </a:prstGeom>
          <a:solidFill>
            <a:srgbClr val="0E1524"/>
          </a:solidFill>
          <a:ln>
            <a:solidFill>
              <a:srgbClr val="1A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58184"/>
            <a:ext cx="5538063" cy="50800"/>
          </a:xfrm>
          <a:prstGeom prst="rect">
            <a:avLst/>
          </a:prstGeom>
          <a:solidFill>
            <a:srgbClr val="2FD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904488"/>
            <a:ext cx="517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494A8"/>
                </a:solidFill>
                <a:latin typeface="Consolas"/>
              </a:rPr>
              <a:t>WHY ENTERPRISE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215384"/>
            <a:ext cx="5218023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EEF3FA"/>
                </a:solidFill>
                <a:latin typeface="Calibri"/>
              </a:rPr>
              <a:t>•  Proprietary knowledge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EEF3FA"/>
                </a:solidFill>
                <a:latin typeface="Calibri"/>
              </a:rPr>
              <a:t>•  High-stakes decisions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EEF3FA"/>
                </a:solidFill>
                <a:latin typeface="Calibri"/>
              </a:rPr>
              <a:t>•  Data privacy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6431" y="3758184"/>
            <a:ext cx="5538063" cy="2139696"/>
          </a:xfrm>
          <a:prstGeom prst="rect">
            <a:avLst/>
          </a:prstGeom>
          <a:solidFill>
            <a:srgbClr val="0E1524"/>
          </a:solidFill>
          <a:ln>
            <a:solidFill>
              <a:srgbClr val="1A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6431" y="3758184"/>
            <a:ext cx="5538063" cy="5080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7599" y="3904488"/>
            <a:ext cx="517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494A8"/>
                </a:solidFill>
                <a:latin typeface="Consolas"/>
              </a:rPr>
              <a:t>WHAT WE BUILT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1023" y="4215384"/>
            <a:ext cx="5218023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EEF3FA"/>
                </a:solidFill>
                <a:latin typeface="Calibri"/>
              </a:rPr>
              <a:t>•  Enterprise knowledge hub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EEF3FA"/>
                </a:solidFill>
                <a:latin typeface="Calibri"/>
              </a:rPr>
              <a:t>•  Grounded review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EEF3FA"/>
                </a:solidFill>
                <a:latin typeface="Calibri"/>
              </a:rPr>
              <a:t>•  Fleet of agents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EEF3FA"/>
                </a:solidFill>
                <a:latin typeface="Calibri"/>
              </a:rPr>
              <a:t>•  Tribunal simulation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EEF3FA"/>
                </a:solidFill>
                <a:latin typeface="Calibri"/>
              </a:rPr>
              <a:t>•  Training pack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EEF3FA"/>
                </a:solidFill>
                <a:latin typeface="Calibri"/>
              </a:rPr>
              <a:t>•  Risk insights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494A8"/>
                </a:solidFill>
                <a:latin typeface="Consolas"/>
              </a:rPr>
              <a:t>EDUCATIONAL · NOT LEGAL ADVICE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0015" y="64739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494A8"/>
                </a:solidFill>
                <a:latin typeface="Consolas"/>
              </a:rPr>
              <a:t>01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D9CF0"/>
                </a:solidFill>
                <a:latin typeface="Consolas"/>
              </a:rPr>
              <a:t>JURISFLOW · ENTERPRISE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9CF0"/>
                </a:solidFill>
                <a:latin typeface="Consolas"/>
              </a:rPr>
              <a:t>02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EF3FA"/>
                </a:solidFill>
                <a:latin typeface="Calibri"/>
              </a:rPr>
              <a:t>Agents · policy gate · right model for the job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749039" cy="2331720"/>
          </a:xfrm>
          <a:prstGeom prst="rect">
            <a:avLst/>
          </a:prstGeom>
          <a:solidFill>
            <a:srgbClr val="0E1524"/>
          </a:solidFill>
          <a:ln>
            <a:solidFill>
              <a:srgbClr val="1A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749039" cy="50800"/>
          </a:xfrm>
          <a:prstGeom prst="rect">
            <a:avLst/>
          </a:prstGeom>
          <a:solidFill>
            <a:srgbClr val="3D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17904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494A8"/>
                </a:solidFill>
                <a:latin typeface="Consolas"/>
              </a:rPr>
              <a:t>CONTROL &amp; WORKLOADS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342899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EEF3FA"/>
                </a:solidFill>
                <a:latin typeface="Calibri"/>
              </a:rPr>
              <a:t>•  React UI → FastAPI → OPA/Rego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EF3FA"/>
                </a:solidFill>
                <a:latin typeface="Calibri"/>
              </a:rPr>
              <a:t>•  Knowledge Hub · Grounded Review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EF3FA"/>
                </a:solidFill>
                <a:latin typeface="Calibri"/>
              </a:rPr>
              <a:t>•  LangGraph Sim · edge-tts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EF3FA"/>
                </a:solidFill>
                <a:latin typeface="Calibri"/>
              </a:rPr>
              <a:t>•  MCP tools · default-deny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40480"/>
            <a:ext cx="3749039" cy="2331720"/>
          </a:xfrm>
          <a:prstGeom prst="rect">
            <a:avLst/>
          </a:prstGeom>
          <a:solidFill>
            <a:srgbClr val="0E1524"/>
          </a:solidFill>
          <a:ln>
            <a:solidFill>
              <a:srgbClr val="1A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3749039" cy="5080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986784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494A8"/>
                </a:solidFill>
                <a:latin typeface="Consolas"/>
              </a:rPr>
              <a:t>AGENT FLEET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297680"/>
            <a:ext cx="342899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EEF3FA"/>
                </a:solidFill>
                <a:latin typeface="Calibri"/>
              </a:rPr>
              <a:t>•  Orchestrator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EF3FA"/>
                </a:solidFill>
                <a:latin typeface="Calibri"/>
              </a:rPr>
              <a:t>•  Policy Reviewer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EF3FA"/>
                </a:solidFill>
                <a:latin typeface="Calibri"/>
              </a:rPr>
              <a:t>•  Plaintiff · Defendant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EF3FA"/>
                </a:solidFill>
                <a:latin typeface="Calibri"/>
              </a:rPr>
              <a:t>•  Judge · Informer · Witness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371600"/>
            <a:ext cx="3566160" cy="4800600"/>
          </a:xfrm>
          <a:prstGeom prst="rect">
            <a:avLst/>
          </a:prstGeom>
          <a:solidFill>
            <a:srgbClr val="0E1524"/>
          </a:solidFill>
          <a:ln>
            <a:solidFill>
              <a:srgbClr val="1A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371600"/>
            <a:ext cx="3566160" cy="50800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15179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494A8"/>
                </a:solidFill>
                <a:latin typeface="Consolas"/>
              </a:rPr>
              <a:t>LLM 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1828800"/>
            <a:ext cx="3246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EEF3FA"/>
                </a:solidFill>
                <a:latin typeface="Calibri"/>
              </a:rPr>
              <a:t>•  Ollama — private / offline / cost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EF3FA"/>
                </a:solidFill>
                <a:latin typeface="Calibri"/>
              </a:rPr>
              <a:t>•  OpenRouter — stronger models per task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EF3FA"/>
                </a:solidFill>
                <a:latin typeface="Calibri"/>
              </a:rPr>
              <a:t>•  Vertex — optional GCP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EF3FA"/>
                </a:solidFill>
                <a:latin typeface="Calibri"/>
              </a:rPr>
              <a:t>•  Per use-case adapter switch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EF3FA"/>
                </a:solidFill>
                <a:latin typeface="Calibri"/>
              </a:rPr>
              <a:t>•  Qdrant — filtered org vectors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EF3FA"/>
                </a:solidFill>
                <a:latin typeface="Calibri"/>
              </a:rPr>
              <a:t>•  edge-tts — overview + hearing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EF3FA"/>
                </a:solidFill>
                <a:latin typeface="Calibri"/>
              </a:rPr>
              <a:t>•  No silent LLM fallback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371600"/>
            <a:ext cx="3611880" cy="4800600"/>
          </a:xfrm>
          <a:prstGeom prst="rect">
            <a:avLst/>
          </a:prstGeom>
          <a:solidFill>
            <a:srgbClr val="0E1524"/>
          </a:solidFill>
          <a:ln>
            <a:solidFill>
              <a:srgbClr val="1A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371600"/>
            <a:ext cx="3611880" cy="50800"/>
          </a:xfrm>
          <a:prstGeom prst="rect">
            <a:avLst/>
          </a:prstGeom>
          <a:solidFill>
            <a:srgbClr val="2FD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5361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494A8"/>
                </a:solidFill>
                <a:latin typeface="Consolas"/>
              </a:rPr>
              <a:t>TECH BETS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920240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494A8"/>
                </a:solidFill>
                <a:latin typeface="Consolas"/>
              </a:rPr>
              <a:t>Rationale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103120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494A8"/>
                </a:solidFill>
                <a:latin typeface="Calibri"/>
              </a:rPr>
              <a:t>Choice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560320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D9CF0"/>
                </a:solidFill>
                <a:latin typeface="Consolas"/>
              </a:rPr>
              <a:t>No lock-in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743200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EF3FA"/>
                </a:solidFill>
                <a:latin typeface="Calibri"/>
              </a:rPr>
              <a:t>Ollama + OpenRouter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926080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494A8"/>
                </a:solidFill>
                <a:latin typeface="Calibri"/>
              </a:rPr>
              <a:t>not: Single-vendor LLM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218688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D9CF0"/>
                </a:solidFill>
                <a:latin typeface="Consolas"/>
              </a:rPr>
              <a:t>HITL agent graph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401568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EF3FA"/>
                </a:solidFill>
                <a:latin typeface="Calibri"/>
              </a:rPr>
              <a:t>LangGraph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584448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494A8"/>
                </a:solidFill>
                <a:latin typeface="Calibri"/>
              </a:rPr>
              <a:t>not: Ad-hoc chains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877056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D9CF0"/>
                </a:solidFill>
                <a:latin typeface="Consolas"/>
              </a:rPr>
              <a:t>Org vectors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059936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EF3FA"/>
                </a:solidFill>
                <a:latin typeface="Calibri"/>
              </a:rPr>
              <a:t>Qdrant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242816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494A8"/>
                </a:solidFill>
                <a:latin typeface="Calibri"/>
              </a:rPr>
              <a:t>not: Chroma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535424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D9CF0"/>
                </a:solidFill>
                <a:latin typeface="Consolas"/>
              </a:rPr>
              <a:t>Default-deny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718304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EF3FA"/>
                </a:solidFill>
                <a:latin typeface="Calibri"/>
              </a:rPr>
              <a:t>OPA / Rego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901184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494A8"/>
                </a:solidFill>
                <a:latin typeface="Calibri"/>
              </a:rPr>
              <a:t>not: App-only RBAC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5193792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D9CF0"/>
                </a:solidFill>
                <a:latin typeface="Consolas"/>
              </a:rPr>
              <a:t>Multi-voice TTS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5376672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EF3FA"/>
                </a:solidFill>
                <a:latin typeface="Calibri"/>
              </a:rPr>
              <a:t>edge-tts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5559552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494A8"/>
                </a:solidFill>
                <a:latin typeface="Calibri"/>
              </a:rPr>
              <a:t>not: Cloud TTS lock-in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5852160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D9CF0"/>
                </a:solidFill>
                <a:latin typeface="Consolas"/>
              </a:rPr>
              <a:t>Ship FOSS fast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6035040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EF3FA"/>
                </a:solidFill>
                <a:latin typeface="Calibri"/>
              </a:rPr>
              <a:t>FastAPI · React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6217920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494A8"/>
                </a:solidFill>
                <a:latin typeface="Calibri"/>
              </a:rPr>
              <a:t>not: Heavy CLM suite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494A8"/>
                </a:solidFill>
                <a:latin typeface="Consolas"/>
              </a:rPr>
              <a:t>EDUCATIONAL · NOT LEGAL ADVICE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0015" y="64739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494A8"/>
                </a:solidFill>
                <a:latin typeface="Consolas"/>
              </a:rPr>
              <a:t>02 /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D9CF0"/>
                </a:solidFill>
                <a:latin typeface="Consolas"/>
              </a:rPr>
              <a:t>JURISFLOW · ENTERPRISE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9CF0"/>
                </a:solidFill>
                <a:latin typeface="Consolas"/>
              </a:rPr>
              <a:t>03 ·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EF3FA"/>
                </a:solidFill>
                <a:latin typeface="Calibri"/>
              </a:rPr>
              <a:t>Shipped core → gated enterprise CLM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554480"/>
            <a:ext cx="9966960" cy="38100"/>
          </a:xfrm>
          <a:prstGeom prst="rect">
            <a:avLst/>
          </a:prstGeom>
          <a:solidFill>
            <a:srgbClr val="1A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1554480"/>
            <a:ext cx="2926080" cy="38100"/>
          </a:xfrm>
          <a:prstGeom prst="rect">
            <a:avLst/>
          </a:prstGeom>
          <a:solidFill>
            <a:srgbClr val="2FD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11680" y="1435608"/>
            <a:ext cx="256032" cy="256032"/>
          </a:xfrm>
          <a:prstGeom prst="ellipse">
            <a:avLst/>
          </a:prstGeom>
          <a:solidFill>
            <a:srgbClr val="2FD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7830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D67B"/>
                </a:solidFill>
                <a:latin typeface="Consolas"/>
              </a:rPr>
              <a:t>NOW</a:t>
            </a:r>
          </a:p>
        </p:txBody>
      </p:sp>
      <p:sp>
        <p:nvSpPr>
          <p:cNvPr id="10" name="Oval 9"/>
          <p:cNvSpPr/>
          <p:nvPr/>
        </p:nvSpPr>
        <p:spPr>
          <a:xfrm>
            <a:off x="5852160" y="1435608"/>
            <a:ext cx="256032" cy="256032"/>
          </a:xfrm>
          <a:prstGeom prst="ellipse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17830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8B84A"/>
                </a:solidFill>
                <a:latin typeface="Consolas"/>
              </a:rPr>
              <a:t>NEAR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0" y="1435608"/>
            <a:ext cx="256032" cy="256032"/>
          </a:xfrm>
          <a:prstGeom prst="ellipse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17830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9B7BFF"/>
                </a:solidFill>
                <a:latin typeface="Consolas"/>
              </a:rPr>
              <a:t>FUTURE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94560"/>
            <a:ext cx="3566160" cy="3931920"/>
          </a:xfrm>
          <a:prstGeom prst="rect">
            <a:avLst/>
          </a:prstGeom>
          <a:solidFill>
            <a:srgbClr val="0E1524"/>
          </a:solidFill>
          <a:ln>
            <a:solidFill>
              <a:srgbClr val="1A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194560"/>
            <a:ext cx="3566160" cy="50800"/>
          </a:xfrm>
          <a:prstGeom prst="rect">
            <a:avLst/>
          </a:prstGeom>
          <a:solidFill>
            <a:srgbClr val="2FD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3591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FD67B"/>
                </a:solidFill>
                <a:latin typeface="Consolas"/>
              </a:rPr>
              <a:t>NOW · SHIPPED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651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EF3FA"/>
                </a:solidFill>
                <a:latin typeface="Calibri"/>
              </a:rPr>
              <a:t>Rehearsal 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10896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EEF3FA"/>
                </a:solidFill>
                <a:latin typeface="Calibri"/>
              </a:rPr>
              <a:t>•  Enterprise knowledge hub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EF3FA"/>
                </a:solidFill>
                <a:latin typeface="Calibri"/>
              </a:rPr>
              <a:t>•  Grounded review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EF3FA"/>
                </a:solidFill>
                <a:latin typeface="Calibri"/>
              </a:rPr>
              <a:t>•  Fleet of agents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EF3FA"/>
                </a:solidFill>
                <a:latin typeface="Calibri"/>
              </a:rPr>
              <a:t>•  Tribunal simulation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EF3FA"/>
                </a:solidFill>
                <a:latin typeface="Calibri"/>
              </a:rPr>
              <a:t>•  Training pack + audio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EF3FA"/>
                </a:solidFill>
                <a:latin typeface="Calibri"/>
              </a:rPr>
              <a:t>•  Risk insights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2194560"/>
            <a:ext cx="3566160" cy="3931920"/>
          </a:xfrm>
          <a:prstGeom prst="rect">
            <a:avLst/>
          </a:prstGeom>
          <a:solidFill>
            <a:srgbClr val="0E1524"/>
          </a:solidFill>
          <a:ln>
            <a:solidFill>
              <a:srgbClr val="1A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2194560"/>
            <a:ext cx="3566160" cy="50800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23591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B84A"/>
                </a:solidFill>
                <a:latin typeface="Consolas"/>
              </a:rPr>
              <a:t>NEAR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651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EF3FA"/>
                </a:solidFill>
                <a:latin typeface="Calibri"/>
              </a:rPr>
              <a:t>Trust 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310896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EEF3FA"/>
                </a:solidFill>
                <a:latin typeface="Calibri"/>
              </a:rPr>
              <a:t>•  Repair AI reviews with HITL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EF3FA"/>
                </a:solidFill>
                <a:latin typeface="Calibri"/>
              </a:rPr>
              <a:t>•  Auto triage / routing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EF3FA"/>
                </a:solidFill>
                <a:latin typeface="Calibri"/>
              </a:rPr>
              <a:t>•  AI watermarking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EF3FA"/>
                </a:solidFill>
                <a:latin typeface="Calibri"/>
              </a:rPr>
              <a:t>•  DeepEvals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194560"/>
            <a:ext cx="3566160" cy="3931920"/>
          </a:xfrm>
          <a:prstGeom prst="rect">
            <a:avLst/>
          </a:prstGeom>
          <a:solidFill>
            <a:srgbClr val="0E1524"/>
          </a:solidFill>
          <a:ln>
            <a:solidFill>
              <a:srgbClr val="1A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2194560"/>
            <a:ext cx="3566160" cy="5080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8" y="23591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B7BFF"/>
                </a:solidFill>
                <a:latin typeface="Consolas"/>
              </a:rPr>
              <a:t>FUTURE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2651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EF3FA"/>
                </a:solidFill>
                <a:latin typeface="Calibri"/>
              </a:rPr>
              <a:t>Legal 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310896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EEF3FA"/>
                </a:solidFill>
                <a:latin typeface="Calibri"/>
              </a:rPr>
              <a:t>•  Complete CLM + CRM integration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EF3FA"/>
                </a:solidFill>
                <a:latin typeface="Calibri"/>
              </a:rPr>
              <a:t>•  Hard AI gating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EF3FA"/>
                </a:solidFill>
                <a:latin typeface="Calibri"/>
              </a:rPr>
              <a:t>•  SME maturity assessment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494A8"/>
                </a:solidFill>
                <a:latin typeface="Consolas"/>
              </a:rPr>
              <a:t>EDUCATIONAL · NOT LEGAL ADVICE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0015" y="64739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494A8"/>
                </a:solidFill>
                <a:latin typeface="Consolas"/>
              </a:rPr>
              <a:t>03 / 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